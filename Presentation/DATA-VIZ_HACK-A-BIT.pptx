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</p:sldIdLst>
  <p:sldSz cx="18288000" cy="10287000"/>
  <p:notesSz cx="6858000" cy="9144000"/>
  <p:embeddedFontLst>
    <p:embeddedFont>
      <p:font typeface="Playfair Display" panose="00000500000000000000" pitchFamily="2" charset="0"/>
      <p:regular r:id="rId14"/>
      <p:bold r:id="rId15"/>
      <p:italic r:id="rId16"/>
      <p:boldItalic r:id="rId17"/>
    </p:embeddedFont>
    <p:embeddedFont>
      <p:font typeface="Public Sans" panose="020B0604020202020204" charset="0"/>
      <p:regular r:id="rId18"/>
    </p:embeddedFont>
    <p:embeddedFont>
      <p:font typeface="Public Sans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kaggle.com/datasets/bhadramohit/tata-ipl-auction-list2025-dataset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d.to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39845" y="3430753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06882" y="3635949"/>
            <a:ext cx="16230600" cy="681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0"/>
              </a:lnSpc>
              <a:spcBef>
                <a:spcPct val="0"/>
              </a:spcBef>
            </a:pPr>
            <a:r>
              <a:rPr lang="en-US" sz="3914" b="1" spc="888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DATA-DRIVEN IPL INSIGHTS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39834" y="1921270"/>
            <a:ext cx="16408332" cy="1256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5"/>
              </a:lnSpc>
            </a:pPr>
            <a:r>
              <a:rPr lang="en-US" sz="10060" spc="5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DATA-VIZ HACK-A-BIT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6407" y="6579870"/>
            <a:ext cx="7862435" cy="2764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Bala harshini B - 24BAD015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Harish M K - 24BAD031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Dinesh kumar P - 24BAD021</a:t>
            </a:r>
          </a:p>
          <a:p>
            <a:pPr algn="l">
              <a:lnSpc>
                <a:spcPts val="4649"/>
              </a:lnSpc>
            </a:pPr>
            <a:r>
              <a:rPr lang="en-US" sz="30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Jeevadharan G - 24BAD046</a:t>
            </a:r>
          </a:p>
          <a:p>
            <a:pPr algn="l">
              <a:lnSpc>
                <a:spcPts val="3450"/>
              </a:lnSpc>
            </a:pPr>
            <a:endParaRPr lang="en-US" sz="30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1775457"/>
            <a:ext cx="15970655" cy="6327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5"/>
              </a:lnSpc>
            </a:pPr>
            <a:endParaRPr sz="3600" dirty="0">
              <a:latin typeface="Public Sans" panose="020B0604020202020204" charset="0"/>
            </a:endParaRPr>
          </a:p>
          <a:p>
            <a:pPr algn="l">
              <a:lnSpc>
                <a:spcPts val="5983"/>
              </a:lnSpc>
            </a:pPr>
            <a:r>
              <a:rPr lang="en-US" sz="3600" b="1" dirty="0">
                <a:solidFill>
                  <a:srgbClr val="2B2C30"/>
                </a:solidFill>
                <a:latin typeface="Public Sans" panose="020B0604020202020204" charset="0"/>
                <a:ea typeface="Public Sans Bold"/>
                <a:cs typeface="Public Sans Bold"/>
                <a:sym typeface="Public Sans Bold"/>
              </a:rPr>
              <a:t>Moneyball: IPL Player Valuation</a:t>
            </a:r>
          </a:p>
          <a:p>
            <a:r>
              <a:rPr lang="en-US" sz="2800" b="1" dirty="0">
                <a:latin typeface="Public Sans" panose="020B0604020202020204" charset="0"/>
              </a:rPr>
              <a:t>Issue:</a:t>
            </a:r>
            <a:endParaRPr lang="en-US" sz="2800" dirty="0">
              <a:latin typeface="Public Sans" panose="020B0604020202020204" charset="0"/>
            </a:endParaRPr>
          </a:p>
          <a:p>
            <a:r>
              <a:rPr lang="en-US" sz="2800" dirty="0">
                <a:latin typeface="Public Sans" panose="020B0604020202020204" charset="0"/>
              </a:rPr>
              <a:t>Player auction prices are often influenced by popularity rather than actual performance</a:t>
            </a:r>
          </a:p>
          <a:p>
            <a:r>
              <a:rPr lang="en-US" sz="2800" dirty="0">
                <a:latin typeface="Public Sans" panose="020B0604020202020204" charset="0"/>
              </a:rPr>
              <a:t>Teams may overpay for some players and undervalue others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Core Question:</a:t>
            </a:r>
            <a:endParaRPr lang="en-US" sz="2800" dirty="0">
              <a:latin typeface="Public Sans" panose="020B0604020202020204" charset="0"/>
            </a:endParaRPr>
          </a:p>
          <a:p>
            <a:r>
              <a:rPr lang="en-US" sz="2800" dirty="0">
                <a:latin typeface="Public Sans" panose="020B0604020202020204" charset="0"/>
              </a:rPr>
              <a:t>Does a player's age, role, nationality, or capped status genuinely influence their base auction price?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Goal:</a:t>
            </a:r>
            <a:br>
              <a:rPr lang="en-US" sz="2800" dirty="0">
                <a:latin typeface="Public Sans" panose="020B0604020202020204" charset="0"/>
              </a:rPr>
            </a:br>
            <a:r>
              <a:rPr lang="en-US" sz="2800" dirty="0">
                <a:latin typeface="Public Sans" panose="020B0604020202020204" charset="0"/>
              </a:rPr>
              <a:t>Build a strong team within a limited budget using data-driven insights</a:t>
            </a:r>
          </a:p>
          <a:p>
            <a:pPr algn="l">
              <a:lnSpc>
                <a:spcPts val="5235"/>
              </a:lnSpc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266816" y="2443226"/>
            <a:ext cx="14823709" cy="6032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Applications: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Provides insights into player distribution, role importance, and auction trends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Assists sports analysts and team management in strategic planning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Demonstrates how data visualization and statistical methods apply to sports analytics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Limitations: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Dataset contains only auction-related information (no detailed match performance statistics)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Results depend on the quality and completeness of the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Does not include real-time updates</a:t>
            </a:r>
          </a:p>
          <a:p>
            <a:br>
              <a:rPr lang="en-US" sz="2800" dirty="0"/>
            </a:b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66816" y="942975"/>
            <a:ext cx="5423892" cy="64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SCOPE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SDG MAPPING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867DBA-7101-3771-5BDC-22DF5E3BE0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205169"/>
              </p:ext>
            </p:extLst>
          </p:nvPr>
        </p:nvGraphicFramePr>
        <p:xfrm>
          <a:off x="2438400" y="2857500"/>
          <a:ext cx="13106400" cy="517499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6553200">
                  <a:extLst>
                    <a:ext uri="{9D8B030D-6E8A-4147-A177-3AD203B41FA5}">
                      <a16:colId xmlns:a16="http://schemas.microsoft.com/office/drawing/2014/main" val="146457701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1557505274"/>
                    </a:ext>
                  </a:extLst>
                </a:gridCol>
              </a:tblGrid>
              <a:tr h="58127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 dirty="0">
                          <a:effectLst/>
                        </a:rPr>
                        <a:t>SDG</a:t>
                      </a:r>
                      <a:endParaRPr lang="en-IN" b="0" dirty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</a:rPr>
                        <a:t>Alignment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417978678"/>
                  </a:ext>
                </a:extLst>
              </a:tr>
              <a:tr h="1531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</a:rPr>
                        <a:t>SDG 9</a:t>
                      </a:r>
                      <a:r>
                        <a:rPr lang="en-IN" b="0">
                          <a:effectLst/>
                        </a:rPr>
                        <a:t> — Industry, Innovation &amp; Infrastructure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Uses data science and machine learning for sports analytics innovation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13923577"/>
                  </a:ext>
                </a:extLst>
              </a:tr>
              <a:tr h="1531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</a:rPr>
                        <a:t>SDG 10</a:t>
                      </a:r>
                      <a:r>
                        <a:rPr lang="en-IN" b="0">
                          <a:effectLst/>
                        </a:rPr>
                        <a:t> — Reduced Inequalities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Identifies undervalued players and promotes fair evaluation based on performance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497729259"/>
                  </a:ext>
                </a:extLst>
              </a:tr>
              <a:tr h="153123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</a:rPr>
                        <a:t>SDG 8</a:t>
                      </a:r>
                      <a:r>
                        <a:rPr lang="en-US" b="0">
                          <a:effectLst/>
                        </a:rPr>
                        <a:t> — Decent Work &amp; Economic Growth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Improves decision-making in sports economy and auction investments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8041748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51707" y="4408109"/>
            <a:ext cx="11301259" cy="4139086"/>
          </a:xfrm>
          <a:custGeom>
            <a:avLst/>
            <a:gdLst/>
            <a:ahLst/>
            <a:cxnLst/>
            <a:rect l="l" t="t" r="r" b="b"/>
            <a:pathLst>
              <a:path w="11301259" h="4139086">
                <a:moveTo>
                  <a:pt x="0" y="0"/>
                </a:moveTo>
                <a:lnTo>
                  <a:pt x="11301259" y="0"/>
                </a:lnTo>
                <a:lnTo>
                  <a:pt x="11301259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2727876" y="4408109"/>
            <a:ext cx="4705233" cy="4096001"/>
          </a:xfrm>
          <a:custGeom>
            <a:avLst/>
            <a:gdLst/>
            <a:ahLst/>
            <a:cxnLst/>
            <a:rect l="l" t="t" r="r" b="b"/>
            <a:pathLst>
              <a:path w="4705233" h="4096001">
                <a:moveTo>
                  <a:pt x="0" y="0"/>
                </a:moveTo>
                <a:lnTo>
                  <a:pt x="4705233" y="0"/>
                </a:lnTo>
                <a:lnTo>
                  <a:pt x="4705233" y="4096001"/>
                </a:lnTo>
                <a:lnTo>
                  <a:pt x="0" y="4096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580" r="-2493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6871" y="2144043"/>
            <a:ext cx="9757612" cy="2581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5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Used: </a:t>
            </a: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TATA IPL Auction List (2025)</a:t>
            </a:r>
          </a:p>
          <a:p>
            <a:pPr algn="l">
              <a:lnSpc>
                <a:spcPts val="5235"/>
              </a:lnSpc>
            </a:pPr>
            <a:endParaRPr lang="en-US" sz="27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5235"/>
              </a:lnSpc>
            </a:pPr>
            <a:endParaRPr lang="en-US" sz="27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5235"/>
              </a:lnSpc>
            </a:pPr>
            <a:endParaRPr lang="en-US" sz="2799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1707" y="3039751"/>
            <a:ext cx="2067094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spc="20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Source: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454275" y="3040121"/>
            <a:ext cx="9757612" cy="49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sz="2814" spc="292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Kaggle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07650" y="3152745"/>
            <a:ext cx="15993786" cy="109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0"/>
              </a:lnSpc>
            </a:pPr>
            <a:endParaRPr/>
          </a:p>
          <a:p>
            <a:pPr algn="ctr">
              <a:lnSpc>
                <a:spcPts val="2680"/>
              </a:lnSpc>
            </a:pPr>
            <a:r>
              <a:rPr lang="en-US" sz="1914" b="1" u="sng" spc="434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  <a:hlinkClick r:id="rId4" tooltip="https://www.kaggle.com/datasets/bhadramohit/tata-ipl-auction-list2025-dataset"/>
              </a:rPr>
              <a:t>https://www.kaggle.com/datasets/bhadramohit/tata-ipl-auction-list2025-dataset</a:t>
            </a:r>
          </a:p>
          <a:p>
            <a:pPr algn="ctr">
              <a:lnSpc>
                <a:spcPts val="524"/>
              </a:lnSpc>
              <a:spcBef>
                <a:spcPct val="0"/>
              </a:spcBef>
            </a:pPr>
            <a:endParaRPr lang="en-US" sz="1914" b="1" u="sng" spc="434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4" tooltip="https://www.kaggle.com/datasets/bhadramohit/tata-ipl-auction-list2025-datase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6871" y="3690777"/>
            <a:ext cx="1178955" cy="490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0"/>
              </a:lnSpc>
              <a:spcBef>
                <a:spcPct val="0"/>
              </a:spcBef>
            </a:pPr>
            <a:r>
              <a:rPr lang="en-US" sz="2814" b="1" spc="35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Link: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794845"/>
            <a:ext cx="17030335" cy="226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68" b="1" spc="424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TATA IPL Auction List (2025) is a CSV dataset of players registered for the IPL 2025 auction.</a:t>
            </a:r>
          </a:p>
          <a:p>
            <a:pPr algn="l">
              <a:lnSpc>
                <a:spcPts val="2615"/>
              </a:lnSpc>
            </a:pPr>
            <a:r>
              <a:rPr lang="en-US" sz="1868" b="1" spc="424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It contains details like player role, age, country, capped status, previous teams, and reserve price.</a:t>
            </a:r>
          </a:p>
          <a:p>
            <a:pPr algn="l">
              <a:lnSpc>
                <a:spcPts val="2615"/>
              </a:lnSpc>
            </a:pPr>
            <a:r>
              <a:rPr lang="en-US" sz="1868" b="1" spc="424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It is used to analyze player valuation, auction trends, and team selection patterns.</a:t>
            </a:r>
          </a:p>
          <a:p>
            <a:pPr algn="l">
              <a:lnSpc>
                <a:spcPts val="2615"/>
              </a:lnSpc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2615"/>
              </a:lnSpc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2615"/>
              </a:lnSpc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2615"/>
              </a:lnSpc>
              <a:spcBef>
                <a:spcPct val="0"/>
              </a:spcBef>
            </a:pPr>
            <a:endParaRPr lang="en-US" sz="1868" b="1" spc="424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09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00"/>
              </a:lnSpc>
              <a:spcBef>
                <a:spcPct val="0"/>
              </a:spcBef>
            </a:pPr>
            <a:r>
              <a:rPr lang="en-IN" sz="3710" dirty="0">
                <a:latin typeface="Public Sans Bold" panose="020B0604020202020204" charset="0"/>
              </a:rPr>
              <a:t>DATA PREPROCESSING SUMMARY</a:t>
            </a:r>
            <a:endParaRPr lang="en-US" sz="3714" b="1" spc="843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68468" y="3381502"/>
            <a:ext cx="9214079" cy="1344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52"/>
              </a:lnSpc>
            </a:pPr>
            <a:endParaRPr lang="en-US" sz="2969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just">
              <a:lnSpc>
                <a:spcPts val="5552"/>
              </a:lnSpc>
            </a:pPr>
            <a:endParaRPr lang="en-US" sz="2969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6A2E3F-B356-F3F2-CE74-F233A8BCE4EE}"/>
              </a:ext>
            </a:extLst>
          </p:cNvPr>
          <p:cNvSpPr txBox="1"/>
          <p:nvPr/>
        </p:nvSpPr>
        <p:spPr>
          <a:xfrm>
            <a:off x="1562092" y="2356870"/>
            <a:ext cx="151638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Public Sans" panose="020B0604020202020204" charset="0"/>
              </a:rPr>
              <a:t>Key Cleaning Steps Performed</a:t>
            </a:r>
            <a:r>
              <a:rPr lang="en-IN" b="1" dirty="0"/>
              <a:t>:</a:t>
            </a:r>
          </a:p>
          <a:p>
            <a:endParaRPr lang="en-IN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E0D3478-EAB8-2219-A317-59E14AA84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130969"/>
              </p:ext>
            </p:extLst>
          </p:nvPr>
        </p:nvGraphicFramePr>
        <p:xfrm>
          <a:off x="2884677" y="3157089"/>
          <a:ext cx="12279124" cy="45772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39562">
                  <a:extLst>
                    <a:ext uri="{9D8B030D-6E8A-4147-A177-3AD203B41FA5}">
                      <a16:colId xmlns:a16="http://schemas.microsoft.com/office/drawing/2014/main" val="243260413"/>
                    </a:ext>
                  </a:extLst>
                </a:gridCol>
                <a:gridCol w="6139562">
                  <a:extLst>
                    <a:ext uri="{9D8B030D-6E8A-4147-A177-3AD203B41FA5}">
                      <a16:colId xmlns:a16="http://schemas.microsoft.com/office/drawing/2014/main" val="1843936384"/>
                    </a:ext>
                  </a:extLst>
                </a:gridCol>
              </a:tblGrid>
              <a:tr h="5834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Issue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Solution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233848628"/>
                  </a:ext>
                </a:extLst>
              </a:tr>
              <a:tr h="79615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Metadata header rows (first 2 rows)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Removed from dataset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006168629"/>
                  </a:ext>
                </a:extLst>
              </a:tr>
              <a:tr h="84644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Mixed price formats ('2 Cr', '30 Lakh')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Public Sans" panose="020B0604020202020204" charset="0"/>
                        </a:rPr>
                        <a:t>Converted all to Lakhs (1 Cr = 100 Lakhs)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13871093"/>
                  </a:ext>
                </a:extLst>
              </a:tr>
              <a:tr h="84848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Misaligned Cap_Status column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Fixed and standardized to</a:t>
                      </a:r>
                    </a:p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  'Capped'/'Uncapped'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787708223"/>
                  </a:ext>
                </a:extLst>
              </a:tr>
              <a:tr h="9191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>
                          <a:effectLst/>
                          <a:latin typeface="Public Sans" panose="020B0604020202020204" charset="0"/>
                        </a:rPr>
                        <a:t>Missing values in caps columns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Median imputation (structured missingness)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607323176"/>
                  </a:ext>
                </a:extLst>
              </a:tr>
              <a:tr h="58347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Numeric columns stored as object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Explicit </a:t>
                      </a:r>
                      <a:r>
                        <a:rPr lang="en-IN" sz="2800" b="0" u="none" strike="noStrike" dirty="0" err="1">
                          <a:solidFill>
                            <a:srgbClr val="679EFE"/>
                          </a:solidFill>
                          <a:effectLst/>
                          <a:latin typeface="Public Sans" panose="020B0604020202020204" charset="0"/>
                          <a:hlinkClick r:id="rId2"/>
                        </a:rPr>
                        <a:t>pd.to</a:t>
                      </a:r>
                      <a:r>
                        <a:rPr lang="en-IN" sz="2800" b="0" dirty="0" err="1">
                          <a:effectLst/>
                          <a:latin typeface="Public Sans" panose="020B0604020202020204" charset="0"/>
                        </a:rPr>
                        <a:t>_numeric</a:t>
                      </a: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() conversion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275761594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BAE81CFF-D581-05F5-C11F-28794E2433CD}"/>
              </a:ext>
            </a:extLst>
          </p:cNvPr>
          <p:cNvSpPr txBox="1"/>
          <p:nvPr/>
        </p:nvSpPr>
        <p:spPr>
          <a:xfrm>
            <a:off x="1657354" y="8227572"/>
            <a:ext cx="1497329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Outlier Decision:</a:t>
            </a:r>
            <a:endParaRPr lang="en-US" sz="2800" dirty="0">
              <a:latin typeface="Public Sans" panose="020B0604020202020204" charset="0"/>
            </a:endParaRPr>
          </a:p>
          <a:p>
            <a:r>
              <a:rPr lang="en-US" sz="2800" dirty="0">
                <a:latin typeface="Public Sans" panose="020B0604020202020204" charset="0"/>
              </a:rPr>
              <a:t>Outliers were RETAINED (87 price outliers, 278 IPL matches outliers) because extreme values represent genuine superstars in sports analytics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71563"/>
            <a:ext cx="15582900" cy="1657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US" sz="3710" b="1" dirty="0">
                <a:latin typeface="Public Sans Bold" panose="020B0604020202020204" charset="0"/>
              </a:rPr>
              <a:t> Exploratory Data Analysis - Key Findings</a:t>
            </a: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710" b="1" dirty="0">
              <a:solidFill>
                <a:srgbClr val="000000"/>
              </a:solidFill>
              <a:latin typeface="Public Sans Bold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52600" y="1986682"/>
            <a:ext cx="140970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Reserve Price Distribution: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Right-skewed distribution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Most players priced ₹20-50 Lakhs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Few high-value outliers (₹150-200 Lakhs)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Role Distribution: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Batters: Largest group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Bowlers &amp; All-Rounders: Nearly equal, second largest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Wicketkeepers: Smallest group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Capped vs Uncapped: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Capped players priced 2-3x higher than Uncapped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Shows strong international recognition premium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Age vs Price: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Prime age bracket (25-30 years) commands highest prices</a:t>
            </a:r>
          </a:p>
          <a:p>
            <a:br>
              <a:rPr lang="en-US" sz="2800" dirty="0">
                <a:latin typeface="Public Sans" panose="020B0604020202020204" charset="0"/>
              </a:rPr>
            </a:b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00315"/>
            <a:ext cx="13754100" cy="772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IN" sz="3710" b="1" dirty="0">
                <a:latin typeface="Public Sans Bold" panose="020B0604020202020204" charset="0"/>
              </a:rPr>
              <a:t>PCA - Dimensionality Reduction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1638300"/>
            <a:ext cx="15945416" cy="2563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Motivation: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High correlation among Test/ODI/T20 caps (multicollinearity)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Need to reduce redundancy while preserving signal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IN" sz="2800" b="1" dirty="0"/>
              <a:t>PCA Results:</a:t>
            </a:r>
            <a:endParaRPr lang="en-US" sz="2800" dirty="0">
              <a:latin typeface="Public Sans" panose="020B0604020202020204" charset="0"/>
            </a:endParaRPr>
          </a:p>
          <a:p>
            <a:pPr algn="l">
              <a:lnSpc>
                <a:spcPts val="3366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B39B2F-1FFB-0FC8-93E8-93C02EB5F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086007"/>
              </p:ext>
            </p:extLst>
          </p:nvPr>
        </p:nvGraphicFramePr>
        <p:xfrm>
          <a:off x="2029108" y="3848100"/>
          <a:ext cx="13411200" cy="28668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05600">
                  <a:extLst>
                    <a:ext uri="{9D8B030D-6E8A-4147-A177-3AD203B41FA5}">
                      <a16:colId xmlns:a16="http://schemas.microsoft.com/office/drawing/2014/main" val="3828990361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1200848742"/>
                    </a:ext>
                  </a:extLst>
                </a:gridCol>
              </a:tblGrid>
              <a:tr h="62999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Component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Interpretation</a:t>
                      </a: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2542002769"/>
                  </a:ext>
                </a:extLst>
              </a:tr>
              <a:tr h="125641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 dirty="0">
                          <a:effectLst/>
                          <a:latin typeface="Public Sans" panose="020B0604020202020204" charset="0"/>
                        </a:rPr>
                        <a:t>PC1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"Experience Axis" — driven by</a:t>
                      </a: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 </a:t>
                      </a:r>
                      <a:r>
                        <a:rPr lang="en-US" sz="2800" b="0" dirty="0" err="1">
                          <a:effectLst/>
                          <a:latin typeface="Public Sans" panose="020B0604020202020204" charset="0"/>
                        </a:rPr>
                        <a:t>IPL_Matches</a:t>
                      </a: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, </a:t>
                      </a:r>
                      <a:r>
                        <a:rPr lang="en-US" sz="2800" b="0" dirty="0" err="1">
                          <a:effectLst/>
                          <a:latin typeface="Public Sans" panose="020B0604020202020204" charset="0"/>
                        </a:rPr>
                        <a:t>ODI_Caps</a:t>
                      </a: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, </a:t>
                      </a:r>
                      <a:r>
                        <a:rPr lang="en-US" sz="2800" b="0" dirty="0" err="1">
                          <a:effectLst/>
                          <a:latin typeface="Public Sans" panose="020B0604020202020204" charset="0"/>
                        </a:rPr>
                        <a:t>Total_Caps</a:t>
                      </a:r>
                      <a:endParaRPr lang="en-US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1446872181"/>
                  </a:ext>
                </a:extLst>
              </a:tr>
              <a:tr h="78059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800" b="0">
                          <a:effectLst/>
                          <a:latin typeface="Public Sans" panose="020B0604020202020204" charset="0"/>
                        </a:rPr>
                        <a:t>PC2</a:t>
                      </a: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  <a:latin typeface="Public Sans" panose="020B0604020202020204" charset="0"/>
                        </a:rPr>
                        <a:t>Captures trade-off between age and format-specific experience</a:t>
                      </a: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1225397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40F6682-10D9-9898-6892-4DB2752504DB}"/>
              </a:ext>
            </a:extLst>
          </p:cNvPr>
          <p:cNvSpPr txBox="1"/>
          <p:nvPr/>
        </p:nvSpPr>
        <p:spPr>
          <a:xfrm>
            <a:off x="762000" y="7271657"/>
            <a:ext cx="159454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Key Insight from PCA: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The first 3-5 components capture &gt;95% of variance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High-priced players cluster at positive end of PC1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Overseas players form distinct region in PC2 space</a:t>
            </a:r>
          </a:p>
          <a:p>
            <a:endParaRPr lang="en-IN" sz="2800" dirty="0">
              <a:latin typeface="Public Sans" panose="020B06040202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00315"/>
            <a:ext cx="13220700" cy="1657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US" sz="4000" b="1" dirty="0"/>
              <a:t>Key Insights &amp; Findings</a:t>
            </a: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699" b="1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24000" y="2019300"/>
            <a:ext cx="16501762" cy="10024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1. The Capped Premium is Real and Substantial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Capped players priced 2-3x higher than Uncapped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However, several uncapped players deliver competitive output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2. The Overseas Scarcity Premium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Overseas players systematically priced higher than Indian players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Scarcity premium may exceed what performance justifies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3. The Prime Age Sweet Spot (25-30 Years)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Highest median auction prices across all roles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Players combine athleticism with proven experience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4. The Undervalued Player Profile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Domestic Indian player, Uncapped or &lt;10 international caps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Age 23-27 with 15-40 IPL appearances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Priced below Capped median due to lack of international recognition</a:t>
            </a:r>
          </a:p>
          <a:p>
            <a:br>
              <a:rPr lang="en-US" sz="2800" dirty="0">
                <a:latin typeface="Public Sans" panose="020B0604020202020204" charset="0"/>
              </a:rPr>
            </a:b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6170"/>
              </a:lnSpc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6170"/>
              </a:lnSpc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6170"/>
              </a:lnSpc>
              <a:spcBef>
                <a:spcPct val="0"/>
              </a:spcBef>
            </a:pPr>
            <a:endParaRPr lang="en-US" sz="2800" b="1" dirty="0">
              <a:solidFill>
                <a:srgbClr val="000000"/>
              </a:solidFill>
              <a:latin typeface="Public Sans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990600" y="723900"/>
            <a:ext cx="9951783" cy="263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710" b="1" dirty="0">
                <a:latin typeface="Public Sans Bold" panose="020B0604020202020204" charset="0"/>
              </a:rPr>
              <a:t>Interactive Dashboard </a:t>
            </a:r>
          </a:p>
          <a:p>
            <a:endParaRPr lang="en-US" sz="2800" b="1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Tool Used:</a:t>
            </a:r>
            <a:r>
              <a:rPr lang="en-US" sz="2800" dirty="0">
                <a:latin typeface="Public Sans" panose="020B0604020202020204" charset="0"/>
              </a:rPr>
              <a:t> Plotly</a:t>
            </a:r>
          </a:p>
          <a:p>
            <a:r>
              <a:rPr lang="en-US" sz="2800" b="1" dirty="0">
                <a:latin typeface="Public Sans" panose="020B0604020202020204" charset="0"/>
              </a:rPr>
              <a:t>Narrative Structure (Context → Conflict → Resolution):</a:t>
            </a:r>
            <a:endParaRPr lang="en-US" sz="2800" dirty="0">
              <a:latin typeface="Public Sans" panose="020B0604020202020204" charset="0"/>
            </a:endParaRP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699" b="1" dirty="0">
              <a:solidFill>
                <a:srgbClr val="00000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2342BEA-F05A-B69B-58EB-6784B66DF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3987400"/>
              </p:ext>
            </p:extLst>
          </p:nvPr>
        </p:nvGraphicFramePr>
        <p:xfrm>
          <a:off x="2514600" y="2857500"/>
          <a:ext cx="12573000" cy="4267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286500">
                  <a:extLst>
                    <a:ext uri="{9D8B030D-6E8A-4147-A177-3AD203B41FA5}">
                      <a16:colId xmlns:a16="http://schemas.microsoft.com/office/drawing/2014/main" val="3132517583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668256315"/>
                    </a:ext>
                  </a:extLst>
                </a:gridCol>
              </a:tblGrid>
              <a:tr h="67605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2800" b="0" dirty="0">
                          <a:effectLst/>
                        </a:rPr>
                        <a:t>Section</a:t>
                      </a:r>
                      <a:endParaRPr lang="en-IN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IN" sz="2800" b="0">
                          <a:effectLst/>
                        </a:rPr>
                        <a:t>Content</a:t>
                      </a:r>
                      <a:endParaRPr lang="en-IN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R="101600" marT="63500" marB="63500" anchor="ctr"/>
                </a:tc>
                <a:extLst>
                  <a:ext uri="{0D108BD9-81ED-4DB2-BD59-A6C34878D82A}">
                    <a16:rowId xmlns:a16="http://schemas.microsoft.com/office/drawing/2014/main" val="3431339577"/>
                  </a:ext>
                </a:extLst>
              </a:tr>
              <a:tr h="1197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 dirty="0">
                          <a:effectLst/>
                        </a:rPr>
                        <a:t>Context</a:t>
                      </a:r>
                      <a:r>
                        <a:rPr lang="en-IN" sz="2800" b="0" dirty="0">
                          <a:effectLst/>
                        </a:rPr>
                        <a:t> (Top)</a:t>
                      </a:r>
                      <a:endParaRPr lang="en-IN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</a:rPr>
                        <a:t>KPI cards: 574 players, ₹46.2L avg price, India (366 players), 27.3 avg age</a:t>
                      </a:r>
                      <a:endParaRPr lang="en-US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685183479"/>
                  </a:ext>
                </a:extLst>
              </a:tr>
              <a:tr h="1197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>
                          <a:effectLst/>
                        </a:rPr>
                        <a:t>Conflict</a:t>
                      </a:r>
                      <a:r>
                        <a:rPr lang="en-IN" sz="2800" b="0">
                          <a:effectLst/>
                        </a:rPr>
                        <a:t> (Middle)</a:t>
                      </a:r>
                      <a:endParaRPr lang="en-IN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>
                          <a:effectLst/>
                        </a:rPr>
                        <a:t>Pricing inefficiencies — cap premium, nationality premium, age premium</a:t>
                      </a:r>
                      <a:endParaRPr lang="en-US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2414948738"/>
                  </a:ext>
                </a:extLst>
              </a:tr>
              <a:tr h="1197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IN" sz="2800" b="1">
                          <a:effectLst/>
                        </a:rPr>
                        <a:t>Resolution</a:t>
                      </a:r>
                      <a:r>
                        <a:rPr lang="en-IN" sz="2800" b="0">
                          <a:effectLst/>
                        </a:rPr>
                        <a:t> (Bottom)</a:t>
                      </a:r>
                      <a:endParaRPr lang="en-IN" sz="2800" b="0">
                        <a:effectLst/>
                        <a:latin typeface="Public Sans" panose="020B0604020202020204" charset="0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800" b="0" dirty="0">
                          <a:effectLst/>
                        </a:rPr>
                        <a:t>Actionable strategy — undervalued player profile, value recommendations</a:t>
                      </a:r>
                      <a:endParaRPr lang="en-US" sz="2800" b="0" dirty="0">
                        <a:effectLst/>
                        <a:latin typeface="Public Sans" panose="020B0604020202020204" charset="0"/>
                      </a:endParaRPr>
                    </a:p>
                  </a:txBody>
                  <a:tcPr marL="101600" marT="63500" marB="63500" anchor="ctr"/>
                </a:tc>
                <a:extLst>
                  <a:ext uri="{0D108BD9-81ED-4DB2-BD59-A6C34878D82A}">
                    <a16:rowId xmlns:a16="http://schemas.microsoft.com/office/drawing/2014/main" val="335443934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7967BFD-BC55-7C2C-5912-A096C711A892}"/>
              </a:ext>
            </a:extLst>
          </p:cNvPr>
          <p:cNvSpPr txBox="1"/>
          <p:nvPr/>
        </p:nvSpPr>
        <p:spPr>
          <a:xfrm>
            <a:off x="1143000" y="7505700"/>
            <a:ext cx="143256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Interactive Features: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Hover tooltips with player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Dropdown filters (country, role, cap status)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Consistent </a:t>
            </a:r>
            <a:r>
              <a:rPr lang="en-US" sz="2800" dirty="0" err="1">
                <a:latin typeface="Public Sans" panose="020B0604020202020204" charset="0"/>
              </a:rPr>
              <a:t>colour</a:t>
            </a:r>
            <a:r>
              <a:rPr lang="en-US" sz="2800" dirty="0">
                <a:latin typeface="Public Sans" panose="020B0604020202020204" charset="0"/>
              </a:rPr>
              <a:t> coding (India blue, Overseas red)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Zoom and pan controls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2438400" y="647700"/>
            <a:ext cx="10706100" cy="1657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18"/>
              </a:lnSpc>
              <a:spcBef>
                <a:spcPct val="0"/>
              </a:spcBef>
            </a:pPr>
            <a:r>
              <a:rPr lang="en-IN" sz="3710" b="1" dirty="0">
                <a:latin typeface="Public Sans Bold" panose="020B0604020202020204" charset="0"/>
              </a:rPr>
              <a:t>Conclusion</a:t>
            </a:r>
          </a:p>
          <a:p>
            <a:pPr algn="ctr">
              <a:lnSpc>
                <a:spcPts val="6918"/>
              </a:lnSpc>
              <a:spcBef>
                <a:spcPct val="0"/>
              </a:spcBef>
            </a:pPr>
            <a:endParaRPr lang="en-US" sz="3710" b="1" dirty="0">
              <a:solidFill>
                <a:srgbClr val="000000"/>
              </a:solidFill>
              <a:latin typeface="Public Sans Bold" panose="020B0604020202020204" charset="0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05D754-256C-E552-2C4B-F1664925C569}"/>
              </a:ext>
            </a:extLst>
          </p:cNvPr>
          <p:cNvSpPr txBox="1"/>
          <p:nvPr/>
        </p:nvSpPr>
        <p:spPr>
          <a:xfrm>
            <a:off x="1219200" y="2278312"/>
            <a:ext cx="15697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ublic Sans" panose="020B0604020202020204" charset="0"/>
              </a:rPr>
              <a:t>Moneyball Hypothesis: VALIDATED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IPL player auction prices are systematically influenced by cap status, nationality, age group, and total 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PCA confirmed "experience axis" (PC1) as the dominant pricing driver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Genuine pricing inefficiencies exist that data can identify</a:t>
            </a:r>
          </a:p>
          <a:p>
            <a:endParaRPr lang="en-US" sz="2800" dirty="0">
              <a:latin typeface="Public Sans" panose="020B0604020202020204" charset="0"/>
            </a:endParaRPr>
          </a:p>
          <a:p>
            <a:r>
              <a:rPr lang="en-US" sz="2800" b="1" dirty="0">
                <a:latin typeface="Public Sans" panose="020B0604020202020204" charset="0"/>
              </a:rPr>
              <a:t>Key Takeaway:</a:t>
            </a:r>
            <a:endParaRPr lang="en-US" sz="2800" dirty="0">
              <a:latin typeface="Public Sans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Public Sans" panose="020B0604020202020204" charset="0"/>
              </a:rPr>
              <a:t>Uncapped domestic players with proven IPL track records (age 23-27) consistently represent underpriced value relative to their likely on-field contribution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Public Sans" panose="020B0604020202020204" charset="0"/>
              </a:rPr>
              <a:t>All-Rounders offer the best price-to-versatility ratio</a:t>
            </a:r>
            <a:endParaRPr lang="en-US" sz="2800" dirty="0">
              <a:latin typeface="Public Sans" panose="020B0604020202020204" charset="0"/>
            </a:endParaRPr>
          </a:p>
          <a:p>
            <a:endParaRPr lang="en-IN" sz="2800" dirty="0">
              <a:latin typeface="Public Sans" panose="020B06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38900" y="3315055"/>
            <a:ext cx="5410200" cy="1828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07"/>
              </a:lnSpc>
              <a:spcBef>
                <a:spcPct val="0"/>
              </a:spcBef>
            </a:pPr>
            <a:r>
              <a:rPr lang="en-US" sz="8399" b="1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855</Words>
  <Application>Microsoft Office PowerPoint</Application>
  <PresentationFormat>Custom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Public Sans</vt:lpstr>
      <vt:lpstr>Public Sans Bold</vt:lpstr>
      <vt:lpstr>Calibri</vt:lpstr>
      <vt:lpstr>Playfair Display</vt:lpstr>
      <vt:lpstr>quote-cjk-patch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DATA-VIZ HACK-A-BIT</dc:title>
  <dc:creator>Dhanya Ganesan</dc:creator>
  <cp:lastModifiedBy>Dhanya G 24BAD019</cp:lastModifiedBy>
  <cp:revision>3</cp:revision>
  <dcterms:created xsi:type="dcterms:W3CDTF">2006-08-16T00:00:00Z</dcterms:created>
  <dcterms:modified xsi:type="dcterms:W3CDTF">2026-04-20T16:58:44Z</dcterms:modified>
  <dc:identifier>DAHCWGo3TuI</dc:identifier>
</cp:coreProperties>
</file>