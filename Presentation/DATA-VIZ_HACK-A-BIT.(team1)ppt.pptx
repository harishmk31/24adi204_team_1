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71" r:id="rId13"/>
    <p:sldId id="265" r:id="rId14"/>
    <p:sldId id="266" r:id="rId15"/>
    <p:sldId id="267" r:id="rId16"/>
    <p:sldId id="270" r:id="rId17"/>
  </p:sldIdLst>
  <p:sldSz cx="18288000" cy="10287000"/>
  <p:notesSz cx="6858000" cy="9144000"/>
  <p:embeddedFontLst>
    <p:embeddedFont>
      <p:font typeface="Playfair Display" panose="00000500000000000000" pitchFamily="2" charset="0"/>
      <p:regular r:id="rId19"/>
      <p:bold r:id="rId20"/>
      <p:italic r:id="rId21"/>
      <p:boldItalic r:id="rId22"/>
    </p:embeddedFont>
    <p:embeddedFont>
      <p:font typeface="Public Sans" panose="020B0604020202020204" charset="0"/>
      <p:regular r:id="rId23"/>
    </p:embeddedFont>
    <p:embeddedFont>
      <p:font typeface="Public Sans Bold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3" Type="http://schemas.openxmlformats.org/officeDocument/2006/relationships/customXml" Target="../customXml/item3.xml" /><Relationship Id="rId21" Type="http://schemas.openxmlformats.org/officeDocument/2006/relationships/font" Target="fonts/font3.fntdata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presProps" Target="presProp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font" Target="fonts/font2.fntdata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font" Target="fonts/font6.fntdata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font" Target="fonts/font5.fntdata" /><Relationship Id="rId28" Type="http://schemas.openxmlformats.org/officeDocument/2006/relationships/tableStyles" Target="tableStyles.xml" /><Relationship Id="rId10" Type="http://schemas.openxmlformats.org/officeDocument/2006/relationships/slide" Target="slides/slide6.xml" /><Relationship Id="rId19" Type="http://schemas.openxmlformats.org/officeDocument/2006/relationships/font" Target="fonts/font1.fntdata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font" Target="fonts/font4.fntdata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8D81B-9758-445D-AA3E-B5B8C0168C0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C92AC-E62B-41B6-B44F-919C6897F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60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C92AC-E62B-41B6-B44F-919C6897FD0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8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hyperlink" Target="https://www.kaggle.com/datasets/bhadramohit/tata-ipl-auction-list2025-dataset" TargetMode="Externa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39845" y="3430753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06882" y="3635949"/>
            <a:ext cx="16230600" cy="68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sz="3914" b="1" spc="88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DATA-DRIVEN IPL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9834" y="1921270"/>
            <a:ext cx="16408332" cy="125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5"/>
              </a:lnSpc>
            </a:pPr>
            <a:r>
              <a:rPr lang="en-US" sz="10060" spc="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DATA-VIZ HACK-A-BIT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407" y="6579870"/>
            <a:ext cx="7862435" cy="276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Bala harshini B - 24BAD015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Harish M K - 24BAD031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Dinesh kumar P - 24BAD021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Jeevadharan G - 24BAD046</a:t>
            </a:r>
          </a:p>
          <a:p>
            <a:pPr algn="l">
              <a:lnSpc>
                <a:spcPts val="3450"/>
              </a:lnSpc>
            </a:pPr>
            <a:endParaRPr lang="en-US" sz="30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1775457"/>
            <a:ext cx="15970655" cy="63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5"/>
              </a:lnSpc>
            </a:pPr>
            <a:endParaRPr sz="3600" dirty="0">
              <a:latin typeface="Public Sans" panose="020B0604020202020204" charset="0"/>
            </a:endParaRPr>
          </a:p>
          <a:p>
            <a:pPr algn="l">
              <a:lnSpc>
                <a:spcPts val="5983"/>
              </a:lnSpc>
            </a:pPr>
            <a:r>
              <a:rPr lang="en-US" sz="3600" b="1" dirty="0">
                <a:solidFill>
                  <a:srgbClr val="2B2C3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Moneyball: IPL Player Valuation</a:t>
            </a:r>
          </a:p>
          <a:p>
            <a:r>
              <a:rPr lang="en-US" sz="2800" b="1" dirty="0">
                <a:latin typeface="Public Sans" panose="020B0604020202020204" charset="0"/>
              </a:rPr>
              <a:t>Issue: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Player auction prices are often influenced by popularity rather than actual performance</a:t>
            </a:r>
          </a:p>
          <a:p>
            <a:r>
              <a:rPr lang="en-US" sz="2800" dirty="0">
                <a:latin typeface="Public Sans" panose="020B0604020202020204" charset="0"/>
              </a:rPr>
              <a:t>Teams may overpay for some players and undervalue others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Core Question: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Does a player's age, role, nationality, or capped status genuinely influence their base auction price?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Goal:</a:t>
            </a:r>
            <a:br>
              <a:rPr lang="en-US" sz="2800" dirty="0">
                <a:latin typeface="Public Sans" panose="020B0604020202020204" charset="0"/>
              </a:rPr>
            </a:br>
            <a:r>
              <a:rPr lang="en-US" sz="2800" dirty="0">
                <a:latin typeface="Public Sans" panose="020B0604020202020204" charset="0"/>
              </a:rPr>
              <a:t>Build a strong team within a limited budget using data-driven insights</a:t>
            </a:r>
          </a:p>
          <a:p>
            <a:pPr algn="l">
              <a:lnSpc>
                <a:spcPts val="5235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266816" y="2443226"/>
            <a:ext cx="14823709" cy="6032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Applications: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Provides insights into player distribution, role importance, and auction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Assists sports analysts and team management in strategic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Demonstrates how data visualization and statistical methods apply to sports analytics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Limitations: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Dataset contains only auction-related information (no detailed match performance statistics)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Results depend on the quality and completeness of the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Does not include real-time updates</a:t>
            </a:r>
          </a:p>
          <a:p>
            <a:br>
              <a:rPr lang="en-US" sz="2800" dirty="0"/>
            </a:b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66816" y="942975"/>
            <a:ext cx="5423892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SCOPE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SDG MAPPING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867DBA-7101-3771-5BDC-22DF5E3BE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205169"/>
              </p:ext>
            </p:extLst>
          </p:nvPr>
        </p:nvGraphicFramePr>
        <p:xfrm>
          <a:off x="2438400" y="2857500"/>
          <a:ext cx="13106400" cy="51749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553200">
                  <a:extLst>
                    <a:ext uri="{9D8B030D-6E8A-4147-A177-3AD203B41FA5}">
                      <a16:colId xmlns:a16="http://schemas.microsoft.com/office/drawing/2014/main" val="146457701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1557505274"/>
                    </a:ext>
                  </a:extLst>
                </a:gridCol>
              </a:tblGrid>
              <a:tr h="5812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</a:rPr>
                        <a:t>SDG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Alignment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417978678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SDG 9</a:t>
                      </a:r>
                      <a:r>
                        <a:rPr lang="en-IN" b="0">
                          <a:effectLst/>
                        </a:rPr>
                        <a:t> — Industry, Innovation &amp; Infrastructure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Uses data science and machine learning for sports analytics innovation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13923577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SDG 10</a:t>
                      </a:r>
                      <a:r>
                        <a:rPr lang="en-IN" b="0">
                          <a:effectLst/>
                        </a:rPr>
                        <a:t> — Reduced Inequalities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Identifies undervalued players and promotes fair evaluation based on performance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97729259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SDG 8</a:t>
                      </a:r>
                      <a:r>
                        <a:rPr lang="en-US" b="0">
                          <a:effectLst/>
                        </a:rPr>
                        <a:t> — Decent Work &amp; Economic Growth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Improves decision-making in sports economy and auction investments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041748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51707" y="4408109"/>
            <a:ext cx="11301259" cy="4139086"/>
          </a:xfrm>
          <a:custGeom>
            <a:avLst/>
            <a:gdLst/>
            <a:ahLst/>
            <a:cxnLst/>
            <a:rect l="l" t="t" r="r" b="b"/>
            <a:pathLst>
              <a:path w="11301259" h="4139086">
                <a:moveTo>
                  <a:pt x="0" y="0"/>
                </a:moveTo>
                <a:lnTo>
                  <a:pt x="11301259" y="0"/>
                </a:lnTo>
                <a:lnTo>
                  <a:pt x="11301259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727876" y="4408109"/>
            <a:ext cx="4705233" cy="4096001"/>
          </a:xfrm>
          <a:custGeom>
            <a:avLst/>
            <a:gdLst/>
            <a:ahLst/>
            <a:cxnLst/>
            <a:rect l="l" t="t" r="r" b="b"/>
            <a:pathLst>
              <a:path w="4705233" h="4096001">
                <a:moveTo>
                  <a:pt x="0" y="0"/>
                </a:moveTo>
                <a:lnTo>
                  <a:pt x="4705233" y="0"/>
                </a:lnTo>
                <a:lnTo>
                  <a:pt x="4705233" y="4096001"/>
                </a:lnTo>
                <a:lnTo>
                  <a:pt x="0" y="409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580" r="-249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871" y="2144043"/>
            <a:ext cx="9757612" cy="258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Used: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TATA IPL Auction List (2025)</a:t>
            </a: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1707" y="3039751"/>
            <a:ext cx="20670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20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Source: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454275" y="3040121"/>
            <a:ext cx="9757612" cy="49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sz="2814" spc="29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Kaggle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7650" y="3152745"/>
            <a:ext cx="15993786" cy="109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</a:pPr>
            <a:endParaRPr/>
          </a:p>
          <a:p>
            <a:pPr algn="ctr">
              <a:lnSpc>
                <a:spcPts val="2680"/>
              </a:lnSpc>
            </a:pPr>
            <a:r>
              <a:rPr lang="en-US" sz="1914" b="1" u="sng" spc="43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4" tooltip="https://www.kaggle.com/datasets/bhadramohit/tata-ipl-auction-list2025-dataset"/>
              </a:rPr>
              <a:t>https://www.kaggle.com/datasets/bhadramohit/tata-ipl-auction-list2025-dataset</a:t>
            </a:r>
          </a:p>
          <a:p>
            <a:pPr algn="ctr">
              <a:lnSpc>
                <a:spcPts val="524"/>
              </a:lnSpc>
              <a:spcBef>
                <a:spcPct val="0"/>
              </a:spcBef>
            </a:pPr>
            <a:endParaRPr lang="en-US" sz="1914" b="1" u="sng" spc="434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4" tooltip="https://www.kaggle.com/datasets/bhadramohit/tata-ipl-auction-list2025-datas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6871" y="3690777"/>
            <a:ext cx="1178955" cy="49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sz="2814" b="1" spc="35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Link: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94845"/>
            <a:ext cx="17030335" cy="22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TATA IPL Auction List (2025) is a CSV dataset of players registered for the IPL 2025 auction.</a:t>
            </a:r>
          </a:p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It contains details like player role, age, country, capped status, previous teams, and reserve price.</a:t>
            </a:r>
          </a:p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It is used to analyze player valuation, auction trends, and team selection patterns.</a:t>
            </a: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  <a:spcBef>
                <a:spcPct val="0"/>
              </a:spcBef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09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IN" sz="3710" dirty="0">
                <a:latin typeface="Public Sans Bold" panose="020B0604020202020204" charset="0"/>
              </a:rPr>
              <a:t>DATA PREPROCESSING SUMMARY</a:t>
            </a:r>
            <a:endParaRPr lang="en-US" sz="3714" b="1" spc="843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8468" y="3381502"/>
            <a:ext cx="9214079" cy="134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2"/>
              </a:lnSpc>
            </a:pPr>
            <a:endParaRPr lang="en-US" sz="2969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just">
              <a:lnSpc>
                <a:spcPts val="5552"/>
              </a:lnSpc>
            </a:pPr>
            <a:endParaRPr lang="en-US" sz="2969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A2E3F-B356-F3F2-CE74-F233A8BCE4EE}"/>
              </a:ext>
            </a:extLst>
          </p:cNvPr>
          <p:cNvSpPr txBox="1"/>
          <p:nvPr/>
        </p:nvSpPr>
        <p:spPr>
          <a:xfrm>
            <a:off x="762000" y="2253748"/>
            <a:ext cx="15163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ublic Sans" panose="020B0604020202020204" charset="0"/>
              </a:rPr>
              <a:t>Key Cleaning Steps Performed</a:t>
            </a:r>
            <a:r>
              <a:rPr lang="en-IN" b="1" dirty="0"/>
              <a:t>:</a:t>
            </a:r>
          </a:p>
          <a:p>
            <a:endParaRPr lang="en-IN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E0D3478-EAB8-2219-A317-59E14AA84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24978"/>
              </p:ext>
            </p:extLst>
          </p:nvPr>
        </p:nvGraphicFramePr>
        <p:xfrm>
          <a:off x="1006871" y="3403944"/>
          <a:ext cx="12279124" cy="4577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9562">
                  <a:extLst>
                    <a:ext uri="{9D8B030D-6E8A-4147-A177-3AD203B41FA5}">
                      <a16:colId xmlns:a16="http://schemas.microsoft.com/office/drawing/2014/main" val="243260413"/>
                    </a:ext>
                  </a:extLst>
                </a:gridCol>
                <a:gridCol w="6139562">
                  <a:extLst>
                    <a:ext uri="{9D8B030D-6E8A-4147-A177-3AD203B41FA5}">
                      <a16:colId xmlns:a16="http://schemas.microsoft.com/office/drawing/2014/main" val="1843936384"/>
                    </a:ext>
                  </a:extLst>
                </a:gridCol>
              </a:tblGrid>
              <a:tr h="5834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Issue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Solution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233848628"/>
                  </a:ext>
                </a:extLst>
              </a:tr>
              <a:tr h="7961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Metadata header rows (first 2 rows)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Removed from dataset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006168629"/>
                  </a:ext>
                </a:extLst>
              </a:tr>
              <a:tr h="8464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Mixed price formats ('2 Cr', ‘30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Lakh')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Converted all to Lakhs (1 Cr = 100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Lakhs)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13871093"/>
                  </a:ext>
                </a:extLst>
              </a:tr>
              <a:tr h="8484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Misaligned </a:t>
                      </a:r>
                      <a:r>
                        <a:rPr lang="en-IN" sz="2800" b="0" dirty="0" err="1">
                          <a:effectLst/>
                          <a:latin typeface="Public Sans" panose="020B0604020202020204" charset="0"/>
                        </a:rPr>
                        <a:t>Cap_Status</a:t>
                      </a: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 column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ublic Sans" panose="020B0604020202020204" charset="0"/>
                        </a:rPr>
                        <a:t>Fixed and standardized to ‘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ublic Sans" panose="020B0604020202020204" charset="0"/>
                        </a:rPr>
                        <a:t>Capped'/'Uncapped'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787708223"/>
                  </a:ext>
                </a:extLst>
              </a:tr>
              <a:tr h="9191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Missing values in caps columns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Median imputation (structured 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missingness)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07323176"/>
                  </a:ext>
                </a:extLst>
              </a:tr>
              <a:tr h="5834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Numeric columns stored as object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Explicit </a:t>
                      </a:r>
                      <a:r>
                        <a:rPr lang="en-IN" sz="2800" b="0" u="none" strike="noStrike" dirty="0" err="1">
                          <a:solidFill>
                            <a:srgbClr val="679EFE"/>
                          </a:solidFill>
                          <a:effectLst/>
                          <a:latin typeface="Public Sans" panose="020B0604020202020204" charset="0"/>
                        </a:rPr>
                        <a:t>pd.to_</a:t>
                      </a:r>
                      <a:r>
                        <a:rPr lang="en-IN" sz="2800" b="0" dirty="0" err="1">
                          <a:effectLst/>
                          <a:latin typeface="Public Sans" panose="020B0604020202020204" charset="0"/>
                        </a:rPr>
                        <a:t>numeric</a:t>
                      </a: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() conversion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27576159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AE81CFF-D581-05F5-C11F-28794E2433CD}"/>
              </a:ext>
            </a:extLst>
          </p:cNvPr>
          <p:cNvSpPr txBox="1"/>
          <p:nvPr/>
        </p:nvSpPr>
        <p:spPr>
          <a:xfrm>
            <a:off x="1063142" y="8361496"/>
            <a:ext cx="149732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Outlier Decision: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Outliers were RETAINED (87 price outliers, 278 IPL matches outliers) because extreme values represent genuine superstars in sports analytics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A2F2B-139F-410D-41B4-F119D0DAD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588" y="2084444"/>
            <a:ext cx="6184257" cy="2567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FE7D3F-A551-DCE5-EB8C-19BDD4C5B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211" y="5510256"/>
            <a:ext cx="5432634" cy="1661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71563"/>
            <a:ext cx="15582900" cy="1657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3710" b="1" dirty="0">
                <a:latin typeface="Public Sans Bold" panose="020B0604020202020204" charset="0"/>
              </a:rPr>
              <a:t> Exploratory Data Analysis - Key Findings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710" b="1" dirty="0">
              <a:solidFill>
                <a:srgbClr val="000000"/>
              </a:solidFill>
              <a:latin typeface="Public Sans Bold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52600" y="1986682"/>
            <a:ext cx="140970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Reserve Price Distribution: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Right-skewed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Most players priced ₹20-50 Lakhs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Few high-value outliers (₹150-200 Lakhs)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Role Distribution: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Batters: Largest group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Bowlers &amp; All-Rounders: Nearly equal, second largest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Wicketkeepers: Smallest group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Capped vs Uncapped: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Capped players priced 2-3x higher than Uncapped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Shows strong international recognition premium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Age vs Price: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Prime age bracket (25-30 years) commands highest prices</a:t>
            </a:r>
          </a:p>
          <a:p>
            <a:br>
              <a:rPr lang="en-US" sz="2800" dirty="0">
                <a:latin typeface="Public Sans" panose="020B0604020202020204" charset="0"/>
              </a:rPr>
            </a:b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587FE-D803-F940-8710-7EEC58D4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693" y="1714500"/>
            <a:ext cx="8610600" cy="3132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07202-2729-B377-C91E-5253FD3C3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5439612"/>
            <a:ext cx="4968671" cy="3673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00315"/>
            <a:ext cx="13754100" cy="772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IN" sz="3710" b="1" dirty="0">
                <a:latin typeface="Public Sans Bold" panose="020B0604020202020204" charset="0"/>
              </a:rPr>
              <a:t>PCA - Dimensionality Reduction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1638300"/>
            <a:ext cx="15945416" cy="256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Motivation: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 correlation among Test/ODI/T20 caps (multicollinearity)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Need to reduce redundancy while preserving signal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IN" sz="2800" b="1" dirty="0"/>
              <a:t>PCA Results:</a:t>
            </a:r>
            <a:endParaRPr lang="en-US" sz="2800" dirty="0">
              <a:latin typeface="Public Sans" panose="020B0604020202020204" charset="0"/>
            </a:endParaRPr>
          </a:p>
          <a:p>
            <a:pPr algn="l">
              <a:lnSpc>
                <a:spcPts val="3366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B39B2F-1FFB-0FC8-93E8-93C02EB5F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086007"/>
              </p:ext>
            </p:extLst>
          </p:nvPr>
        </p:nvGraphicFramePr>
        <p:xfrm>
          <a:off x="2029108" y="3848100"/>
          <a:ext cx="13411200" cy="2866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3828990361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1200848742"/>
                    </a:ext>
                  </a:extLst>
                </a:gridCol>
              </a:tblGrid>
              <a:tr h="6299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Component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Interpretation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542002769"/>
                  </a:ext>
                </a:extLst>
              </a:tr>
              <a:tr h="12564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PC1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"Experience Axis" — driven by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IPL_Matches</a:t>
                      </a: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,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ODI_Caps</a:t>
                      </a: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,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Total_Caps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446872181"/>
                  </a:ext>
                </a:extLst>
              </a:tr>
              <a:tr h="7805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PC2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Captures trade-off between age and format-specific experience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22539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0F6682-10D9-9898-6892-4DB2752504DB}"/>
              </a:ext>
            </a:extLst>
          </p:cNvPr>
          <p:cNvSpPr txBox="1"/>
          <p:nvPr/>
        </p:nvSpPr>
        <p:spPr>
          <a:xfrm>
            <a:off x="762000" y="7271657"/>
            <a:ext cx="15945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Key Insight from PCA: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The first 3-5 components capture &gt;95% of variance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High-priced players cluster at positive end of PC1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Overseas players form distinct region in PC2 space</a:t>
            </a:r>
          </a:p>
          <a:p>
            <a:endParaRPr lang="en-IN" sz="2800" dirty="0">
              <a:latin typeface="Public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CAE8D-84B4-5917-C1B8-8818F1B49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6854852"/>
            <a:ext cx="7189380" cy="3080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4F9D96-DAA4-FA46-0015-101E884A3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544" y="1273284"/>
            <a:ext cx="6604980" cy="2998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3824A-4E30-BB92-EFEF-B249B061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241688A-470A-8C88-D55D-DC65E9B46EC4}"/>
              </a:ext>
            </a:extLst>
          </p:cNvPr>
          <p:cNvSpPr txBox="1"/>
          <p:nvPr/>
        </p:nvSpPr>
        <p:spPr>
          <a:xfrm>
            <a:off x="1752600" y="563633"/>
            <a:ext cx="14945008" cy="3050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dirty="0"/>
              <a:t>                                            Feature Engineering</a:t>
            </a:r>
          </a:p>
          <a:p>
            <a:r>
              <a:rPr lang="en-US" sz="3200" b="1" dirty="0"/>
              <a:t>Feature engineering</a:t>
            </a:r>
            <a:r>
              <a:rPr lang="en-US" sz="3200" dirty="0"/>
              <a:t> is the process of </a:t>
            </a:r>
            <a:r>
              <a:rPr lang="en-US" sz="3200" b="1" dirty="0"/>
              <a:t>transforming raw data into useful inputs (features)</a:t>
            </a:r>
            <a:r>
              <a:rPr lang="en-US" sz="3200" dirty="0"/>
              <a:t> that help a machine learning model perform better.</a:t>
            </a:r>
            <a:endParaRPr lang="en-IN" sz="3200" dirty="0"/>
          </a:p>
          <a:p>
            <a:endParaRPr lang="en-IN" sz="4000" dirty="0"/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IN" sz="3710" b="1" dirty="0">
              <a:latin typeface="Public Sans Bold" panose="020B060402020202020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75B8EA-CB69-41AB-B2C9-613106295815}"/>
              </a:ext>
            </a:extLst>
          </p:cNvPr>
          <p:cNvSpPr txBox="1"/>
          <p:nvPr/>
        </p:nvSpPr>
        <p:spPr>
          <a:xfrm>
            <a:off x="838200" y="2476500"/>
            <a:ext cx="15945416" cy="7385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1.Log Transformation of Reserve Price</a:t>
            </a:r>
          </a:p>
          <a:p>
            <a:pPr>
              <a:lnSpc>
                <a:spcPts val="3366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Reserve Price showed strong right-skewed distribution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Applied log1p() transformation to normalize values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Reduced skewness and improved model learning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36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 2.Standard Scaling :</a:t>
            </a:r>
          </a:p>
          <a:p>
            <a:pPr>
              <a:lnSpc>
                <a:spcPts val="3366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36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        Applied Standard Scaler to numeric features:</a:t>
            </a:r>
          </a:p>
          <a:p>
            <a:pPr>
              <a:lnSpc>
                <a:spcPts val="3366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Age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Total Caps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IPL Matches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Number of Matches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Log Reserve Price</a:t>
            </a:r>
          </a:p>
          <a:p>
            <a:pPr marL="457200" indent="-457200">
              <a:lnSpc>
                <a:spcPts val="336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36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 Centered features around mean = 0 and standard deviation =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FD5F9D-9D65-78BD-EA4A-BF1944131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08" y="2551435"/>
            <a:ext cx="6858000" cy="30505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D93382-0E2F-9E43-2B20-E91E885D5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4008" y="6095374"/>
            <a:ext cx="7000592" cy="327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0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00315"/>
            <a:ext cx="13220700" cy="1657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4000" b="1" dirty="0"/>
              <a:t>Key Insights &amp; Findings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24000" y="2019300"/>
            <a:ext cx="16501762" cy="1002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1. The Capped Premium is Real and Substantial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Capped players priced 2-3x higher than Uncapped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However, several uncapped players deliver competitive output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2. The Overseas Scarcity Premium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Overseas players systematically priced higher than Indian players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Scarcity premium may exceed what performance justifies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3. The Prime Age Sweet Spot (25-30 Years)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Highest median auction prices across all roles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Players combine athleticism with proven experience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4. The Undervalued Player Profile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Domestic Indian player, Uncapped or &lt;10 international caps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Age 23-27 with 15-40 IPL appearances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Priced below Capped median due to lack of international recognition</a:t>
            </a:r>
          </a:p>
          <a:p>
            <a:br>
              <a:rPr lang="en-US" sz="2800" dirty="0">
                <a:latin typeface="Public Sans" panose="020B0604020202020204" charset="0"/>
              </a:rPr>
            </a:b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0600" y="723900"/>
            <a:ext cx="9951783" cy="263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710" b="1" dirty="0">
                <a:latin typeface="Public Sans Bold" panose="020B0604020202020204" charset="0"/>
              </a:rPr>
              <a:t>Interactive Dashboard </a:t>
            </a:r>
          </a:p>
          <a:p>
            <a:endParaRPr lang="en-US" sz="2800" b="1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Tool Used:</a:t>
            </a:r>
            <a:r>
              <a:rPr lang="en-US" sz="2800" dirty="0">
                <a:latin typeface="Public Sans" panose="020B0604020202020204" charset="0"/>
              </a:rPr>
              <a:t> Plotly</a:t>
            </a:r>
          </a:p>
          <a:p>
            <a:r>
              <a:rPr lang="en-US" sz="2800" b="1" dirty="0">
                <a:latin typeface="Public Sans" panose="020B0604020202020204" charset="0"/>
              </a:rPr>
              <a:t>Narrative Structure (Context → Conflict → Resolution):</a:t>
            </a:r>
            <a:endParaRPr lang="en-US" sz="2800" dirty="0">
              <a:latin typeface="Public Sans" panose="020B0604020202020204" charset="0"/>
            </a:endParaRP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342BEA-F05A-B69B-58EB-6784B66DF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87400"/>
              </p:ext>
            </p:extLst>
          </p:nvPr>
        </p:nvGraphicFramePr>
        <p:xfrm>
          <a:off x="2514600" y="2857500"/>
          <a:ext cx="12573000" cy="4267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286500">
                  <a:extLst>
                    <a:ext uri="{9D8B030D-6E8A-4147-A177-3AD203B41FA5}">
                      <a16:colId xmlns:a16="http://schemas.microsoft.com/office/drawing/2014/main" val="3132517583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668256315"/>
                    </a:ext>
                  </a:extLst>
                </a:gridCol>
              </a:tblGrid>
              <a:tr h="6760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</a:rPr>
                        <a:t>Section</a:t>
                      </a:r>
                      <a:endParaRPr lang="en-IN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2800" b="0">
                          <a:effectLst/>
                        </a:rPr>
                        <a:t>Content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431339577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</a:rPr>
                        <a:t>Context</a:t>
                      </a:r>
                      <a:r>
                        <a:rPr lang="en-IN" sz="2800" b="0" dirty="0">
                          <a:effectLst/>
                        </a:rPr>
                        <a:t> (Top)</a:t>
                      </a:r>
                      <a:endParaRPr lang="en-IN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</a:rPr>
                        <a:t>KPI cards: 574 players, ₹46.2L avg price, India (366 players), 27.3 avg age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685183479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>
                          <a:effectLst/>
                        </a:rPr>
                        <a:t>Conflict</a:t>
                      </a:r>
                      <a:r>
                        <a:rPr lang="en-IN" sz="2800" b="0">
                          <a:effectLst/>
                        </a:rPr>
                        <a:t> (Middle)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>
                          <a:effectLst/>
                        </a:rPr>
                        <a:t>Pricing inefficiencies — cap premium, nationality premium, age premium</a:t>
                      </a:r>
                      <a:endParaRPr lang="en-US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14948738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>
                          <a:effectLst/>
                        </a:rPr>
                        <a:t>Resolution</a:t>
                      </a:r>
                      <a:r>
                        <a:rPr lang="en-IN" sz="2800" b="0">
                          <a:effectLst/>
                        </a:rPr>
                        <a:t> (Bottom)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</a:rPr>
                        <a:t>Actionable strategy — undervalued player profile, value recommendations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3544393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967BFD-BC55-7C2C-5912-A096C711A892}"/>
              </a:ext>
            </a:extLst>
          </p:cNvPr>
          <p:cNvSpPr txBox="1"/>
          <p:nvPr/>
        </p:nvSpPr>
        <p:spPr>
          <a:xfrm>
            <a:off x="1143000" y="7505700"/>
            <a:ext cx="14325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Interactive Features: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Hover tooltips with player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Dropdown filters (country, role, cap status)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Consistent </a:t>
            </a:r>
            <a:r>
              <a:rPr lang="en-US" sz="2800" dirty="0" err="1">
                <a:latin typeface="Public Sans" panose="020B0604020202020204" charset="0"/>
              </a:rPr>
              <a:t>colour</a:t>
            </a:r>
            <a:r>
              <a:rPr lang="en-US" sz="2800" dirty="0">
                <a:latin typeface="Public Sans" panose="020B0604020202020204" charset="0"/>
              </a:rPr>
              <a:t> coding (India blue, Overseas red)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Zoom and pan controls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2438400" y="647700"/>
            <a:ext cx="10706100" cy="1657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IN" sz="3710" b="1" dirty="0">
                <a:latin typeface="Public Sans Bold" panose="020B0604020202020204" charset="0"/>
              </a:rPr>
              <a:t>Conclusion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710" b="1" dirty="0">
              <a:solidFill>
                <a:srgbClr val="000000"/>
              </a:solidFill>
              <a:latin typeface="Public Sans Bold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5D754-256C-E552-2C4B-F1664925C569}"/>
              </a:ext>
            </a:extLst>
          </p:cNvPr>
          <p:cNvSpPr txBox="1"/>
          <p:nvPr/>
        </p:nvSpPr>
        <p:spPr>
          <a:xfrm>
            <a:off x="1219200" y="2278312"/>
            <a:ext cx="15697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Moneyball Hypothesis: VALIDATED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IPL player auction prices are systematically influenced by cap status, nationality, age group, and total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PCA confirmed "experience axis" (PC1) as the dominant pricing driver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Genuine pricing inefficiencies exist that data can identify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Key Takeaway: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Uncapped domestic players with proven IPL track records (age 23-27) consistently represent underpriced value relative to their likely on-field contribution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Public Sans" panose="020B0604020202020204" charset="0"/>
              </a:rPr>
              <a:t>All-Rounders offer the best price-to-versatility ratio</a:t>
            </a:r>
            <a:endParaRPr lang="en-US" sz="2800" dirty="0">
              <a:latin typeface="Public Sans" panose="020B0604020202020204" charset="0"/>
            </a:endParaRPr>
          </a:p>
          <a:p>
            <a:endParaRPr lang="en-IN" sz="2800" dirty="0"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38900" y="3315055"/>
            <a:ext cx="5410200" cy="182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7"/>
              </a:lnSpc>
              <a:spcBef>
                <a:spcPct val="0"/>
              </a:spcBef>
            </a:pPr>
            <a:r>
              <a:rPr lang="en-US" sz="8399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6C3FDD7F929247AE1102CAAAB81B02" ma:contentTypeVersion="11" ma:contentTypeDescription="Create a new document." ma:contentTypeScope="" ma:versionID="bc6fb06ec934fabda34f3757726debd5">
  <xsd:schema xmlns:xsd="http://www.w3.org/2001/XMLSchema" xmlns:xs="http://www.w3.org/2001/XMLSchema" xmlns:p="http://schemas.microsoft.com/office/2006/metadata/properties" xmlns:ns3="44fcd929-3be6-423e-a864-d41fed1ad26c" targetNamespace="http://schemas.microsoft.com/office/2006/metadata/properties" ma:root="true" ma:fieldsID="9eedec0f5dae55b8c59eb89ab1768109" ns3:_="">
    <xsd:import namespace="44fcd929-3be6-423e-a864-d41fed1ad2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cd929-3be6-423e-a864-d41fed1ad2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fcd929-3be6-423e-a864-d41fed1ad26c" xsi:nil="true"/>
  </documentManagement>
</p:properties>
</file>

<file path=customXml/itemProps1.xml><?xml version="1.0" encoding="utf-8"?>
<ds:datastoreItem xmlns:ds="http://schemas.openxmlformats.org/officeDocument/2006/customXml" ds:itemID="{2D8843DB-73C4-4154-881E-0B060EE96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D8689A-5A84-410B-8F16-B037CE5A7CE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fcd929-3be6-423e-a864-d41fed1ad26c"/>
  </ds:schemaRefs>
</ds:datastoreItem>
</file>

<file path=customXml/itemProps3.xml><?xml version="1.0" encoding="utf-8"?>
<ds:datastoreItem xmlns:ds="http://schemas.openxmlformats.org/officeDocument/2006/customXml" ds:itemID="{98363BA2-12DB-4A4D-9A1E-866F2C6AA809}">
  <ds:schemaRefs>
    <ds:schemaRef ds:uri="http://schemas.microsoft.com/office/2006/metadata/properties"/>
    <ds:schemaRef ds:uri="http://www.w3.org/2000/xmlns/"/>
    <ds:schemaRef ds:uri="44fcd929-3be6-423e-a864-d41fed1ad26c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947</Words>
  <Application>Microsoft Office PowerPoint</Application>
  <PresentationFormat>Custom</PresentationFormat>
  <Paragraphs>173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DATA-VIZ HACK-A-BIT</dc:title>
  <dc:creator>Dhanya Ganesan</dc:creator>
  <cp:lastModifiedBy>Dinesh Kumar P 24BAD021</cp:lastModifiedBy>
  <cp:revision>7</cp:revision>
  <dcterms:created xsi:type="dcterms:W3CDTF">2006-08-16T00:00:00Z</dcterms:created>
  <dcterms:modified xsi:type="dcterms:W3CDTF">2026-04-29T20:05:56Z</dcterms:modified>
  <dc:identifier>DAHCWGo3TuI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0x0101001A6C3FDD7F929247AE1102CAAAB81B02</vt:lpwstr>
  </property>
</Properties>
</file>